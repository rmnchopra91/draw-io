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28" r:id="rId2"/>
    <p:sldId id="324" r:id="rId3"/>
    <p:sldId id="326" r:id="rId4"/>
    <p:sldId id="327" r:id="rId5"/>
    <p:sldId id="325" r:id="rId6"/>
    <p:sldId id="32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3612F5-5269-4E91-9FE7-B3D43BC231E9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F4215-9E1C-4262-A47E-8DA3B7DA9C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247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57C7A-D1D9-44E1-1541-5C2101447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8BF969-A8DF-E668-B056-1C06ED20C8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68243F-8206-045E-B546-70150576F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89B6D-4896-748F-F06B-5321F4B4C9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199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62A70-DFBD-127F-D5CC-9B0F1A562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420B84-9022-B7D2-9C67-0FDA0433D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C76129-7A35-2EDC-3B76-87ED8A841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5D66A-BD02-F7EA-3FAB-C98B27E37E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561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B1218-4B4D-6D44-664F-F8A0DE1C1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8A906C-73C5-CC15-071C-0C6E3F55A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20A63B-F6B8-92FC-EC67-F7054BC31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A656E-B8A4-DC09-B7A4-4D4F638EDF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5658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44798-9625-9B87-97E9-686102287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CD6CDB-0D4F-01C9-479E-BF226F03E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8CD3E-62CE-592C-BE15-2D9D7B5048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04F7B-8A51-BFB7-E2B7-F4E7F18D21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3003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80C24-142A-8645-B1B1-8C9AE99CB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06200D-754E-44E4-D40B-D2A1F7719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E3D3A3-7F94-506A-FF8A-FC8C94AB9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8F381-B4A7-EF3F-14E6-64EC363FDB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6076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39E4C-7953-BBCC-6754-40A8F8FB9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6AE819-AE76-6FA7-C0BB-039293BBC8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FAFB16-9007-E04A-0E3B-06399A4AF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AA741-E42D-28DC-C88E-6D1F18A5E1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229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528FD-9E02-1BF4-1987-B365CF3DD9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86B55A-0C6C-3EA1-2F67-5A48E86441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20188-E669-D6F3-A2EB-59D3F1C6A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EABD9-40B6-412E-8A9F-919BA796FBE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7CA2A-B7AE-AD03-3777-4C6A963F8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C9151-DA58-BE05-5A6A-9C0E4E653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C162-5C81-4E61-A31C-AF06B3B57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423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F9D02-C5D0-2220-E928-9C762B712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C2A67-B642-C85F-74F1-71908D93B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18EF7-60AF-F611-A093-39AD1B3A4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EABD9-40B6-412E-8A9F-919BA796FBE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3B974-5FEB-EB6C-69BA-693432708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612E0-50F3-F5E8-7805-7E5ADC33E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C162-5C81-4E61-A31C-AF06B3B57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68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B6AF7-7E20-ECA4-E4AB-A31779E82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3269A-0901-2EE7-1F5A-BA08A5953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ECE14-1FA9-0693-A49C-09EC8442B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EABD9-40B6-412E-8A9F-919BA796FBE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7E517-5F6D-87A9-80D6-FC23B556A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6C320-346A-1E2D-3A23-CD6B2ABD3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C162-5C81-4E61-A31C-AF06B3B57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5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3B41F-1431-EEDD-6649-E1194C17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C5562-14EA-B75C-B977-8F54D6F725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63746-D967-D771-B798-91447ACDBA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0A06F0-0312-3BC2-A310-44701535D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EABD9-40B6-412E-8A9F-919BA796FBE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CD493-8D6B-D0BD-7666-6EEEA7E21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51163-8D4F-6D55-0DE4-03595F4EA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C162-5C81-4E61-A31C-AF06B3B57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376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DA5A5-5683-E1E4-6E39-C2A422369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9AE790-8E2D-5295-DF01-09DF76AB7E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607AF1-707C-2356-F06B-A503FADB3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6448D2-B9EF-4297-AB7C-E96B992FA8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CE6930-94E5-E40D-B50C-80E65E0228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6AAED9-2CC5-CA87-E163-64EDD0223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EABD9-40B6-412E-8A9F-919BA796FBE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D2BC44-1C7F-B883-A769-DC7BDF09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D30F10-49FB-8DF3-2809-A70B9588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C162-5C81-4E61-A31C-AF06B3B57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828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1B23E-FF8F-88C7-FF7F-03235FAB2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49CC9E-F927-78CC-1CB7-A0009EA5D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EABD9-40B6-412E-8A9F-919BA796FBE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214656-FF58-5DE8-5356-39352CE0A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69C68E-49E5-5381-128D-6F101BEA9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C162-5C81-4E61-A31C-AF06B3B57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924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3C7772-6925-4772-3CA9-E5BEF7889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EABD9-40B6-412E-8A9F-919BA796FBE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7173F0-257C-8D6E-3650-2F8274F11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31D43-DC2C-42BF-6D13-2EE382C94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C162-5C81-4E61-A31C-AF06B3B57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482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1A491-E6BF-595B-FBE9-270FBFE35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02820-F2D2-EE0F-9C9A-659636E0C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E922B8-A3F4-FE76-7128-62DA2978FE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5EDB7D-E25B-90AD-4153-55B444F7A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EABD9-40B6-412E-8A9F-919BA796FBE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3D6E92-1575-4CF6-1878-06BDB7438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B6812A-2F0D-F4F1-3C2B-E51FA49A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C162-5C81-4E61-A31C-AF06B3B57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520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F3047-EADB-3B60-F00B-BFCCA94A1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56090F-8C99-D30D-8E49-96CF006431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710373-D76D-379D-0D59-3A489A4DCE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D0564D-1AD5-88BD-67E1-A3F8778E1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EABD9-40B6-412E-8A9F-919BA796FBE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779C4-0C70-6582-3CB7-087D0C996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73E20-54C2-B53C-71DC-B30F98CF0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C162-5C81-4E61-A31C-AF06B3B57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752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017E1-ED04-B993-12E0-2AA50EE8C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260314-58CF-7415-377C-067E5D16E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2344D-D29E-7B8A-AA5C-2AE48F913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EABD9-40B6-412E-8A9F-919BA796FBE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18EF7-9934-89A6-33C8-EFC32CE7C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C710B-FA3A-FEC8-9BAA-0B0BB2C7A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C162-5C81-4E61-A31C-AF06B3B57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359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A3FCCC-50CC-30BA-15D0-AE0E3FF6F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252FFF-F01D-BA2F-A6D2-8ECD4D6096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C8F85-B700-0CBE-1815-DC27444D4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EABD9-40B6-412E-8A9F-919BA796FBE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93366-C24B-9E8D-28F8-D6DB77244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BD8A4-EB6D-1FBD-E65D-F953AE033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C162-5C81-4E61-A31C-AF06B3B57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037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B50246-7ECD-D922-AF41-D898B6E30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2D47D-264D-451A-CDEC-B17424354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B9171-1E4E-A116-8724-0DFF663388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5EABD9-40B6-412E-8A9F-919BA796FBE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27F45-90D6-D5DE-4A6B-6A582E39E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AD7AA-25A0-D923-E932-77FE89F526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5C162-5C81-4E61-A31C-AF06B3B57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207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edquest.co.in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edquest.co.in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hyperlink" Target="https://edquest.co.in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hyperlink" Target="https://edquest.co.in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hyperlink" Target="https://edquest.co.in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hyperlink" Target="https://edquest.co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62225-1490-7F99-EB3C-A8C246DF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113D93B-E3EB-9EA8-3A7A-161F67B25D92}"/>
              </a:ext>
            </a:extLst>
          </p:cNvPr>
          <p:cNvSpPr/>
          <p:nvPr/>
        </p:nvSpPr>
        <p:spPr>
          <a:xfrm>
            <a:off x="-93132" y="0"/>
            <a:ext cx="632148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id="{10B88FF1-9B57-703D-5EFA-3DA18FF48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6"/>
            <a:ext cx="1217233" cy="1205327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19000"/>
              </a:srgbClr>
            </a:outerShdw>
          </a:effectLst>
        </p:spPr>
      </p:pic>
      <p:sp>
        <p:nvSpPr>
          <p:cNvPr id="35" name="Title 1">
            <a:extLst>
              <a:ext uri="{FF2B5EF4-FFF2-40B4-BE49-F238E27FC236}">
                <a16:creationId xmlns:a16="http://schemas.microsoft.com/office/drawing/2014/main" id="{C4460F83-429B-7CF7-A249-FF20890B1D2A}"/>
              </a:ext>
            </a:extLst>
          </p:cNvPr>
          <p:cNvSpPr txBox="1">
            <a:spLocks/>
          </p:cNvSpPr>
          <p:nvPr/>
        </p:nvSpPr>
        <p:spPr>
          <a:xfrm>
            <a:off x="881039" y="116793"/>
            <a:ext cx="11310961" cy="10387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>
                <a:solidFill>
                  <a:schemeClr val="bg1"/>
                </a:solidFill>
              </a:rPr>
              <a:t>What is the Llama Model?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54DEE3-02E8-F2C9-DA85-600B4EB672B7}"/>
              </a:ext>
            </a:extLst>
          </p:cNvPr>
          <p:cNvSpPr txBox="1"/>
          <p:nvPr/>
        </p:nvSpPr>
        <p:spPr>
          <a:xfrm>
            <a:off x="2056375" y="1628507"/>
            <a:ext cx="8856921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Llama (Large Language Model Meta AI) is a series of open-source language models developed by Meta (previously Facebook). These models are designed to understand and generate human-like text based on the input provided to them. They are trained on vast datasets and are capable of performing a variety of NLP (Natural Language Processing) tasks, such as text generation, summarization, translation, and question answering.</a:t>
            </a:r>
            <a:endParaRPr lang="en-US" b="0" dirty="0">
              <a:solidFill>
                <a:schemeClr val="bg1"/>
              </a:solidFill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Llama models are designed to be efficient and offer high performance, allowing for cost-effective deployments in a variety of real-world applications, from chatbots to content generation systems.</a:t>
            </a:r>
            <a:endParaRPr lang="en-US" b="0" dirty="0">
              <a:solidFill>
                <a:schemeClr val="bg1"/>
              </a:solidFill>
              <a:effectLst/>
            </a:endParaRPr>
          </a:p>
          <a:p>
            <a:pPr>
              <a:buNone/>
            </a:pPr>
            <a:br>
              <a:rPr lang="en-US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hlinkClick r:id="rId4"/>
            <a:extLst>
              <a:ext uri="{FF2B5EF4-FFF2-40B4-BE49-F238E27FC236}">
                <a16:creationId xmlns:a16="http://schemas.microsoft.com/office/drawing/2014/main" id="{A2EA582E-547E-A6F5-E02D-A1C07C65503E}"/>
              </a:ext>
            </a:extLst>
          </p:cNvPr>
          <p:cNvSpPr txBox="1"/>
          <p:nvPr/>
        </p:nvSpPr>
        <p:spPr>
          <a:xfrm>
            <a:off x="5423613" y="6371875"/>
            <a:ext cx="8856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b="0" i="0" u="none" strike="noStrike" dirty="0" err="1">
                <a:effectLst/>
                <a:latin typeface="Arial" panose="020B0604020202020204" pitchFamily="34" charset="0"/>
              </a:rPr>
              <a:t>edquest</a:t>
            </a:r>
            <a:endParaRPr lang="en-US" b="0" dirty="0">
              <a:effectLst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6218DD0-FC25-40A9-8128-D01C12B65F23}"/>
              </a:ext>
            </a:extLst>
          </p:cNvPr>
          <p:cNvSpPr txBox="1">
            <a:spLocks/>
          </p:cNvSpPr>
          <p:nvPr/>
        </p:nvSpPr>
        <p:spPr>
          <a:xfrm>
            <a:off x="1033439" y="269193"/>
            <a:ext cx="11310961" cy="10387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AWS RAG Architecture</a:t>
            </a:r>
          </a:p>
        </p:txBody>
      </p:sp>
      <p:pic>
        <p:nvPicPr>
          <p:cNvPr id="6150" name="Picture 6">
            <a:extLst>
              <a:ext uri="{FF2B5EF4-FFF2-40B4-BE49-F238E27FC236}">
                <a16:creationId xmlns:a16="http://schemas.microsoft.com/office/drawing/2014/main" id="{CCFF0CF4-8A3F-6A63-384A-38C5E831B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021" y="1597855"/>
            <a:ext cx="11437780" cy="4241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5197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E01EE-9B82-1A8D-6A71-28923D9F4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B92D285-0982-C7FC-2CCB-555CC4555729}"/>
              </a:ext>
            </a:extLst>
          </p:cNvPr>
          <p:cNvSpPr/>
          <p:nvPr/>
        </p:nvSpPr>
        <p:spPr>
          <a:xfrm>
            <a:off x="-93132" y="0"/>
            <a:ext cx="632148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id="{F6D8D221-4B29-D734-A328-58D818C34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6"/>
            <a:ext cx="1217233" cy="1205327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19000"/>
              </a:srgbClr>
            </a:outerShdw>
          </a:effectLst>
        </p:spPr>
      </p:pic>
      <p:sp>
        <p:nvSpPr>
          <p:cNvPr id="35" name="Title 1">
            <a:extLst>
              <a:ext uri="{FF2B5EF4-FFF2-40B4-BE49-F238E27FC236}">
                <a16:creationId xmlns:a16="http://schemas.microsoft.com/office/drawing/2014/main" id="{8E4945F9-351B-FE06-B4C4-5E27ED97FD2B}"/>
              </a:ext>
            </a:extLst>
          </p:cNvPr>
          <p:cNvSpPr txBox="1">
            <a:spLocks/>
          </p:cNvSpPr>
          <p:nvPr/>
        </p:nvSpPr>
        <p:spPr>
          <a:xfrm>
            <a:off x="881039" y="116793"/>
            <a:ext cx="11310961" cy="10387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>
                <a:solidFill>
                  <a:schemeClr val="bg1"/>
                </a:solidFill>
              </a:rPr>
              <a:t>What is the Llama Model?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AA3A12-3299-A830-E323-B0787DD838D0}"/>
              </a:ext>
            </a:extLst>
          </p:cNvPr>
          <p:cNvSpPr txBox="1"/>
          <p:nvPr/>
        </p:nvSpPr>
        <p:spPr>
          <a:xfrm>
            <a:off x="2056375" y="1628507"/>
            <a:ext cx="8856921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Llama (Large Language Model Meta AI) is a series of open-source language models developed by Meta (previously Facebook). These models are designed to understand and generate human-like text based on the input provided to them. They are trained on vast datasets and are capable of performing a variety of NLP (Natural Language Processing) tasks, such as text generation, summarization, translation, and question answering.</a:t>
            </a:r>
            <a:endParaRPr lang="en-US" b="0" dirty="0">
              <a:solidFill>
                <a:schemeClr val="bg1"/>
              </a:solidFill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Llama models are designed to be efficient and offer high performance, allowing for cost-effective deployments in a variety of real-world applications, from chatbots to content generation systems.</a:t>
            </a:r>
            <a:endParaRPr lang="en-US" b="0" dirty="0">
              <a:solidFill>
                <a:schemeClr val="bg1"/>
              </a:solidFill>
              <a:effectLst/>
            </a:endParaRPr>
          </a:p>
          <a:p>
            <a:pPr>
              <a:buNone/>
            </a:pPr>
            <a:br>
              <a:rPr lang="en-US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hlinkClick r:id="rId4"/>
            <a:extLst>
              <a:ext uri="{FF2B5EF4-FFF2-40B4-BE49-F238E27FC236}">
                <a16:creationId xmlns:a16="http://schemas.microsoft.com/office/drawing/2014/main" id="{E6A61257-FF6B-9FEB-7E5E-F28D35A5E1A9}"/>
              </a:ext>
            </a:extLst>
          </p:cNvPr>
          <p:cNvSpPr txBox="1"/>
          <p:nvPr/>
        </p:nvSpPr>
        <p:spPr>
          <a:xfrm>
            <a:off x="5423613" y="6371875"/>
            <a:ext cx="8856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b="0" i="0" u="none" strike="noStrike" dirty="0" err="1">
                <a:effectLst/>
                <a:latin typeface="Arial" panose="020B0604020202020204" pitchFamily="34" charset="0"/>
              </a:rPr>
              <a:t>edquest</a:t>
            </a:r>
            <a:endParaRPr lang="en-US" b="0" dirty="0">
              <a:effectLst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CB32B2D-60F3-EBBA-01EF-A8CB384E3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95" y="1161288"/>
            <a:ext cx="11454297" cy="3930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479DD6E-EDEC-A68E-FA0D-7AB323C32FCF}"/>
              </a:ext>
            </a:extLst>
          </p:cNvPr>
          <p:cNvSpPr txBox="1">
            <a:spLocks/>
          </p:cNvSpPr>
          <p:nvPr/>
        </p:nvSpPr>
        <p:spPr>
          <a:xfrm>
            <a:off x="1033439" y="269193"/>
            <a:ext cx="11310961" cy="10387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ML Request/Response Flow</a:t>
            </a:r>
          </a:p>
        </p:txBody>
      </p:sp>
    </p:spTree>
    <p:extLst>
      <p:ext uri="{BB962C8B-B14F-4D97-AF65-F5344CB8AC3E}">
        <p14:creationId xmlns:p14="http://schemas.microsoft.com/office/powerpoint/2010/main" val="3988691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3B8D6-C1DB-B237-EE1B-517B2BD70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21FC1D-B45A-13B3-9809-A7DEECF562D3}"/>
              </a:ext>
            </a:extLst>
          </p:cNvPr>
          <p:cNvSpPr/>
          <p:nvPr/>
        </p:nvSpPr>
        <p:spPr>
          <a:xfrm>
            <a:off x="-93132" y="0"/>
            <a:ext cx="632148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id="{F1E6DAE1-235F-A796-B4CD-612DB1203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6"/>
            <a:ext cx="1217233" cy="1205327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19000"/>
              </a:srgbClr>
            </a:outerShdw>
          </a:effectLst>
        </p:spPr>
      </p:pic>
      <p:sp>
        <p:nvSpPr>
          <p:cNvPr id="35" name="Title 1">
            <a:extLst>
              <a:ext uri="{FF2B5EF4-FFF2-40B4-BE49-F238E27FC236}">
                <a16:creationId xmlns:a16="http://schemas.microsoft.com/office/drawing/2014/main" id="{2856BB51-2FD3-8F45-C558-CC1F9C143FEC}"/>
              </a:ext>
            </a:extLst>
          </p:cNvPr>
          <p:cNvSpPr txBox="1">
            <a:spLocks/>
          </p:cNvSpPr>
          <p:nvPr/>
        </p:nvSpPr>
        <p:spPr>
          <a:xfrm>
            <a:off x="821528" y="999911"/>
            <a:ext cx="1779865" cy="336499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>
                <a:solidFill>
                  <a:schemeClr val="bg1"/>
                </a:solidFill>
              </a:rPr>
              <a:t>What is Llama Model?</a:t>
            </a:r>
          </a:p>
        </p:txBody>
      </p:sp>
      <p:sp>
        <p:nvSpPr>
          <p:cNvPr id="13" name="TextBox 12">
            <a:hlinkClick r:id="rId4"/>
            <a:extLst>
              <a:ext uri="{FF2B5EF4-FFF2-40B4-BE49-F238E27FC236}">
                <a16:creationId xmlns:a16="http://schemas.microsoft.com/office/drawing/2014/main" id="{999BCB7B-A499-28E3-594A-315DB2D6EF3E}"/>
              </a:ext>
            </a:extLst>
          </p:cNvPr>
          <p:cNvSpPr txBox="1"/>
          <p:nvPr/>
        </p:nvSpPr>
        <p:spPr>
          <a:xfrm>
            <a:off x="5423613" y="6371875"/>
            <a:ext cx="8856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b="0" i="0" u="none" strike="noStrike" dirty="0" err="1">
                <a:effectLst/>
                <a:latin typeface="Arial" panose="020B0604020202020204" pitchFamily="34" charset="0"/>
              </a:rPr>
              <a:t>edquest</a:t>
            </a:r>
            <a:endParaRPr lang="en-US" b="0" dirty="0">
              <a:effectLst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7AA94FD-9EBE-ACC5-85D1-22DCA066D74C}"/>
              </a:ext>
            </a:extLst>
          </p:cNvPr>
          <p:cNvSpPr txBox="1">
            <a:spLocks/>
          </p:cNvSpPr>
          <p:nvPr/>
        </p:nvSpPr>
        <p:spPr>
          <a:xfrm>
            <a:off x="821528" y="-594361"/>
            <a:ext cx="2820272" cy="34366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Post Call Analysis Design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E406505-AFFB-C4C7-9734-F1DEEF01C8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1904" y="116793"/>
            <a:ext cx="5677407" cy="6472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2796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4847E-73EC-C00D-A4D4-12A1B2410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CADC2AE-74AC-0F12-2691-86E8A1499FDE}"/>
              </a:ext>
            </a:extLst>
          </p:cNvPr>
          <p:cNvSpPr/>
          <p:nvPr/>
        </p:nvSpPr>
        <p:spPr>
          <a:xfrm>
            <a:off x="-93132" y="0"/>
            <a:ext cx="632148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id="{4D36C3B6-9D34-1392-3CAE-FC64E9FBD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6"/>
            <a:ext cx="1217233" cy="1205327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19000"/>
              </a:srgbClr>
            </a:outerShdw>
          </a:effectLst>
        </p:spPr>
      </p:pic>
      <p:sp>
        <p:nvSpPr>
          <p:cNvPr id="13" name="TextBox 12">
            <a:hlinkClick r:id="rId4"/>
            <a:extLst>
              <a:ext uri="{FF2B5EF4-FFF2-40B4-BE49-F238E27FC236}">
                <a16:creationId xmlns:a16="http://schemas.microsoft.com/office/drawing/2014/main" id="{47AFE886-0AE2-CB15-11A7-7B38BB48AC2B}"/>
              </a:ext>
            </a:extLst>
          </p:cNvPr>
          <p:cNvSpPr txBox="1"/>
          <p:nvPr/>
        </p:nvSpPr>
        <p:spPr>
          <a:xfrm>
            <a:off x="5423613" y="6371875"/>
            <a:ext cx="8856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b="0" i="0" u="none" strike="noStrike" dirty="0" err="1">
                <a:effectLst/>
                <a:latin typeface="Arial" panose="020B0604020202020204" pitchFamily="34" charset="0"/>
              </a:rPr>
              <a:t>edquest</a:t>
            </a:r>
            <a:endParaRPr lang="en-US" b="0" dirty="0">
              <a:effectLst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4E6C65D-C36E-2473-D3DC-3DEE27442E43}"/>
              </a:ext>
            </a:extLst>
          </p:cNvPr>
          <p:cNvSpPr txBox="1">
            <a:spLocks/>
          </p:cNvSpPr>
          <p:nvPr/>
        </p:nvSpPr>
        <p:spPr>
          <a:xfrm>
            <a:off x="754835" y="-1353313"/>
            <a:ext cx="3693115" cy="49560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End-to-End</a:t>
            </a:r>
          </a:p>
          <a:p>
            <a:pPr algn="l"/>
            <a:r>
              <a:rPr lang="en-US" b="1" dirty="0"/>
              <a:t>ML model Lifecycle Pipeline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02592B9-C179-ECF7-5DDB-7A3D30DE2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414" y="56006"/>
            <a:ext cx="8401738" cy="6363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4607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E1A2D-C1C6-474D-541B-8E035958B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328E27-A1E9-5B7C-49C3-231003FCBDBA}"/>
              </a:ext>
            </a:extLst>
          </p:cNvPr>
          <p:cNvSpPr/>
          <p:nvPr/>
        </p:nvSpPr>
        <p:spPr>
          <a:xfrm>
            <a:off x="-93132" y="0"/>
            <a:ext cx="632148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id="{D5306058-F5CF-B018-1155-F0F8ECE2A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6"/>
            <a:ext cx="1217233" cy="1205327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19000"/>
              </a:srgbClr>
            </a:outerShdw>
          </a:effectLst>
        </p:spPr>
      </p:pic>
      <p:sp>
        <p:nvSpPr>
          <p:cNvPr id="35" name="Title 1">
            <a:extLst>
              <a:ext uri="{FF2B5EF4-FFF2-40B4-BE49-F238E27FC236}">
                <a16:creationId xmlns:a16="http://schemas.microsoft.com/office/drawing/2014/main" id="{2E1A1E07-0CA2-F318-1FBD-9E93CA5B35D9}"/>
              </a:ext>
            </a:extLst>
          </p:cNvPr>
          <p:cNvSpPr txBox="1">
            <a:spLocks/>
          </p:cNvSpPr>
          <p:nvPr/>
        </p:nvSpPr>
        <p:spPr>
          <a:xfrm>
            <a:off x="881039" y="116793"/>
            <a:ext cx="11310961" cy="10387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>
                <a:solidFill>
                  <a:schemeClr val="bg1"/>
                </a:solidFill>
              </a:rPr>
              <a:t>What is the Llama Model?</a:t>
            </a:r>
          </a:p>
        </p:txBody>
      </p:sp>
      <p:sp>
        <p:nvSpPr>
          <p:cNvPr id="13" name="TextBox 12">
            <a:hlinkClick r:id="rId4"/>
            <a:extLst>
              <a:ext uri="{FF2B5EF4-FFF2-40B4-BE49-F238E27FC236}">
                <a16:creationId xmlns:a16="http://schemas.microsoft.com/office/drawing/2014/main" id="{07E794D5-7FEE-5082-9258-893F0CC5BC17}"/>
              </a:ext>
            </a:extLst>
          </p:cNvPr>
          <p:cNvSpPr txBox="1"/>
          <p:nvPr/>
        </p:nvSpPr>
        <p:spPr>
          <a:xfrm>
            <a:off x="5423613" y="6371875"/>
            <a:ext cx="8856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b="0" i="0" u="none" strike="noStrike" dirty="0" err="1">
                <a:effectLst/>
                <a:latin typeface="Arial" panose="020B0604020202020204" pitchFamily="34" charset="0"/>
              </a:rPr>
              <a:t>edquest</a:t>
            </a:r>
            <a:endParaRPr lang="en-US" b="0" dirty="0">
              <a:effectLst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264579-8B64-933F-0B4E-EBBFB32EBB0B}"/>
              </a:ext>
            </a:extLst>
          </p:cNvPr>
          <p:cNvSpPr txBox="1">
            <a:spLocks/>
          </p:cNvSpPr>
          <p:nvPr/>
        </p:nvSpPr>
        <p:spPr>
          <a:xfrm>
            <a:off x="1033439" y="269193"/>
            <a:ext cx="11310961" cy="10387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RAG Architecture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84371DC5-5F09-4F1B-D300-E54AD5D15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132" y="1630134"/>
            <a:ext cx="11481905" cy="3609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6255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D06B9-637F-9281-88C9-D5CAA6471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AB0FFB1-4865-79AD-E38C-B20166DB64E2}"/>
              </a:ext>
            </a:extLst>
          </p:cNvPr>
          <p:cNvSpPr/>
          <p:nvPr/>
        </p:nvSpPr>
        <p:spPr>
          <a:xfrm>
            <a:off x="-93132" y="0"/>
            <a:ext cx="632148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id="{2922AA0F-7459-D9F0-A35F-A7B3C7122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6"/>
            <a:ext cx="1217233" cy="1205327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19000"/>
              </a:srgbClr>
            </a:outerShdw>
          </a:effectLst>
        </p:spPr>
      </p:pic>
      <p:sp>
        <p:nvSpPr>
          <p:cNvPr id="35" name="Title 1">
            <a:extLst>
              <a:ext uri="{FF2B5EF4-FFF2-40B4-BE49-F238E27FC236}">
                <a16:creationId xmlns:a16="http://schemas.microsoft.com/office/drawing/2014/main" id="{3F09C049-CF06-CFCD-294A-B98EA47F6748}"/>
              </a:ext>
            </a:extLst>
          </p:cNvPr>
          <p:cNvSpPr txBox="1">
            <a:spLocks/>
          </p:cNvSpPr>
          <p:nvPr/>
        </p:nvSpPr>
        <p:spPr>
          <a:xfrm>
            <a:off x="881039" y="116793"/>
            <a:ext cx="11310961" cy="10387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>
                <a:solidFill>
                  <a:schemeClr val="bg1"/>
                </a:solidFill>
              </a:rPr>
              <a:t>What is the Llama Model?</a:t>
            </a:r>
          </a:p>
        </p:txBody>
      </p:sp>
      <p:sp>
        <p:nvSpPr>
          <p:cNvPr id="13" name="TextBox 12">
            <a:hlinkClick r:id="rId4"/>
            <a:extLst>
              <a:ext uri="{FF2B5EF4-FFF2-40B4-BE49-F238E27FC236}">
                <a16:creationId xmlns:a16="http://schemas.microsoft.com/office/drawing/2014/main" id="{29AD222F-5F76-F3C5-3343-A47B5D707B3B}"/>
              </a:ext>
            </a:extLst>
          </p:cNvPr>
          <p:cNvSpPr txBox="1"/>
          <p:nvPr/>
        </p:nvSpPr>
        <p:spPr>
          <a:xfrm>
            <a:off x="5423613" y="6371875"/>
            <a:ext cx="8856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b="0" i="0" u="none" strike="noStrike" dirty="0" err="1">
                <a:effectLst/>
                <a:latin typeface="Arial" panose="020B0604020202020204" pitchFamily="34" charset="0"/>
              </a:rPr>
              <a:t>edquest</a:t>
            </a:r>
            <a:endParaRPr lang="en-US" b="0" dirty="0">
              <a:effectLst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55813EA-568D-B76B-444A-5592C376512A}"/>
              </a:ext>
            </a:extLst>
          </p:cNvPr>
          <p:cNvSpPr txBox="1">
            <a:spLocks/>
          </p:cNvSpPr>
          <p:nvPr/>
        </p:nvSpPr>
        <p:spPr>
          <a:xfrm>
            <a:off x="1033439" y="269193"/>
            <a:ext cx="11310961" cy="103873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RPM: Remote Patient Monitoring</a:t>
            </a:r>
          </a:p>
          <a:p>
            <a:pPr algn="l"/>
            <a:r>
              <a:rPr lang="en-US" b="1" dirty="0"/>
              <a:t>System Architecture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03CA09C-8D3F-9620-F7BD-4CF69133A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219" y="1460326"/>
            <a:ext cx="7305561" cy="474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5041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6833</TotalTime>
  <Words>279</Words>
  <Application>Microsoft Office PowerPoint</Application>
  <PresentationFormat>Widescreen</PresentationFormat>
  <Paragraphs>31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Raman Chopra</dc:creator>
  <cp:lastModifiedBy>Raman Chopra</cp:lastModifiedBy>
  <cp:revision>10</cp:revision>
  <cp:lastPrinted>2025-04-16T13:58:28Z</cp:lastPrinted>
  <dcterms:created xsi:type="dcterms:W3CDTF">2025-04-16T10:44:33Z</dcterms:created>
  <dcterms:modified xsi:type="dcterms:W3CDTF">2025-04-21T04:38:12Z</dcterms:modified>
</cp:coreProperties>
</file>